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B7280"/>
                </a:solidFill>
                <a:latin typeface="Arial"/>
              </a:rPr>
              <a:t>Weekly avg risk score — Baseline (teal) → Decline (amber/red) → Recovery (teal)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CA3A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05A3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5A3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13</c:v>
                </c:pt>
                <c:pt idx="3">
                  <c:v>10</c:v>
                </c:pt>
                <c:pt idx="4">
                  <c:v>12</c:v>
                </c:pt>
                <c:pt idx="5">
                  <c:v>11</c:v>
                </c:pt>
                <c:pt idx="6">
                  <c:v>18</c:v>
                </c:pt>
                <c:pt idx="7">
                  <c:v>24</c:v>
                </c:pt>
                <c:pt idx="8">
                  <c:v>31</c:v>
                </c:pt>
                <c:pt idx="9">
                  <c:v>38</c:v>
                </c:pt>
                <c:pt idx="10">
                  <c:v>29</c:v>
                </c:pt>
                <c:pt idx="1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CA3A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CA3AF"/>
                </a:solidFill>
                <a:latin typeface="Arial"/>
              </a:rPr>
              <a:t>84-day risk trajectory — USR_001 (High Performer)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(with intervention)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Sheet1!$A$2:$A$85</c:f>
              <c:multiLvlStrCache>
                <c:ptCount val="84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  <c:pt idx="20">
                    <c:v>D21</c:v>
                  </c:pt>
                  <c:pt idx="21">
                    <c:v>D22</c:v>
                  </c:pt>
                  <c:pt idx="22">
                    <c:v>D23</c:v>
                  </c:pt>
                  <c:pt idx="23">
                    <c:v>D24</c:v>
                  </c:pt>
                  <c:pt idx="24">
                    <c:v>D25</c:v>
                  </c:pt>
                  <c:pt idx="25">
                    <c:v>D26</c:v>
                  </c:pt>
                  <c:pt idx="26">
                    <c:v>D27</c:v>
                  </c:pt>
                  <c:pt idx="27">
                    <c:v>D28</c:v>
                  </c:pt>
                  <c:pt idx="28">
                    <c:v>D29</c:v>
                  </c:pt>
                  <c:pt idx="29">
                    <c:v>D30</c:v>
                  </c:pt>
                  <c:pt idx="30">
                    <c:v>D31</c:v>
                  </c:pt>
                  <c:pt idx="31">
                    <c:v>D32</c:v>
                  </c:pt>
                  <c:pt idx="32">
                    <c:v>D33</c:v>
                  </c:pt>
                  <c:pt idx="33">
                    <c:v>D34</c:v>
                  </c:pt>
                  <c:pt idx="34">
                    <c:v>D35</c:v>
                  </c:pt>
                  <c:pt idx="35">
                    <c:v>D36</c:v>
                  </c:pt>
                  <c:pt idx="36">
                    <c:v>D37</c:v>
                  </c:pt>
                  <c:pt idx="37">
                    <c:v>D38</c:v>
                  </c:pt>
                  <c:pt idx="38">
                    <c:v>D39</c:v>
                  </c:pt>
                  <c:pt idx="39">
                    <c:v>D40</c:v>
                  </c:pt>
                  <c:pt idx="40">
                    <c:v>D41</c:v>
                  </c:pt>
                  <c:pt idx="41">
                    <c:v>D42</c:v>
                  </c:pt>
                  <c:pt idx="42">
                    <c:v>D43</c:v>
                  </c:pt>
                  <c:pt idx="43">
                    <c:v>D44</c:v>
                  </c:pt>
                  <c:pt idx="44">
                    <c:v>D45</c:v>
                  </c:pt>
                  <c:pt idx="45">
                    <c:v>D46</c:v>
                  </c:pt>
                  <c:pt idx="46">
                    <c:v>D47</c:v>
                  </c:pt>
                  <c:pt idx="47">
                    <c:v>D48</c:v>
                  </c:pt>
                  <c:pt idx="48">
                    <c:v>D49</c:v>
                  </c:pt>
                  <c:pt idx="49">
                    <c:v>D50</c:v>
                  </c:pt>
                  <c:pt idx="50">
                    <c:v>D51</c:v>
                  </c:pt>
                  <c:pt idx="51">
                    <c:v>D52</c:v>
                  </c:pt>
                  <c:pt idx="52">
                    <c:v>D53</c:v>
                  </c:pt>
                  <c:pt idx="53">
                    <c:v>D54</c:v>
                  </c:pt>
                  <c:pt idx="54">
                    <c:v>D55</c:v>
                  </c:pt>
                  <c:pt idx="55">
                    <c:v>D56</c:v>
                  </c:pt>
                  <c:pt idx="56">
                    <c:v>D57</c:v>
                  </c:pt>
                  <c:pt idx="57">
                    <c:v>D58</c:v>
                  </c:pt>
                  <c:pt idx="58">
                    <c:v>D59</c:v>
                  </c:pt>
                  <c:pt idx="59">
                    <c:v>D60</c:v>
                  </c:pt>
                  <c:pt idx="60">
                    <c:v>D61</c:v>
                  </c:pt>
                  <c:pt idx="61">
                    <c:v>D62</c:v>
                  </c:pt>
                  <c:pt idx="62">
                    <c:v>D63</c:v>
                  </c:pt>
                  <c:pt idx="63">
                    <c:v>D64</c:v>
                  </c:pt>
                  <c:pt idx="64">
                    <c:v>D65</c:v>
                  </c:pt>
                  <c:pt idx="65">
                    <c:v>D66</c:v>
                  </c:pt>
                  <c:pt idx="66">
                    <c:v>D67</c:v>
                  </c:pt>
                  <c:pt idx="67">
                    <c:v>D68</c:v>
                  </c:pt>
                  <c:pt idx="68">
                    <c:v>D69</c:v>
                  </c:pt>
                  <c:pt idx="69">
                    <c:v>D70</c:v>
                  </c:pt>
                  <c:pt idx="70">
                    <c:v>D71</c:v>
                  </c:pt>
                  <c:pt idx="71">
                    <c:v>D72</c:v>
                  </c:pt>
                  <c:pt idx="72">
                    <c:v>D73</c:v>
                  </c:pt>
                  <c:pt idx="73">
                    <c:v>D74</c:v>
                  </c:pt>
                  <c:pt idx="74">
                    <c:v>D75</c:v>
                  </c:pt>
                  <c:pt idx="75">
                    <c:v>D76</c:v>
                  </c:pt>
                  <c:pt idx="76">
                    <c:v>D77</c:v>
                  </c:pt>
                  <c:pt idx="77">
                    <c:v>D78</c:v>
                  </c:pt>
                  <c:pt idx="78">
                    <c:v>D79</c:v>
                  </c:pt>
                  <c:pt idx="79">
                    <c:v>D80</c:v>
                  </c:pt>
                  <c:pt idx="80">
                    <c:v>D81</c:v>
                  </c:pt>
                  <c:pt idx="81">
                    <c:v>D82</c:v>
                  </c:pt>
                  <c:pt idx="82">
                    <c:v>D83</c:v>
                  </c:pt>
                  <c:pt idx="83">
                    <c:v>D84</c:v>
                  </c:pt>
                </c:lvl>
              </c:multiLvlStrCache>
            </c:multiLvlStrRef>
          </c:cat>
          <c:val>
            <c:numRef>
              <c:f>Sheet1!$B$2:$B$85</c:f>
              <c:numCache>
                <c:formatCode>General</c:formatCode>
                <c:ptCount val="84"/>
                <c:pt idx="0">
                  <c:v>11.4</c:v>
                </c:pt>
                <c:pt idx="1">
                  <c:v>10.2</c:v>
                </c:pt>
                <c:pt idx="2">
                  <c:v>13</c:v>
                </c:pt>
                <c:pt idx="3">
                  <c:v>12</c:v>
                </c:pt>
                <c:pt idx="4">
                  <c:v>11.4</c:v>
                </c:pt>
                <c:pt idx="5">
                  <c:v>10.6</c:v>
                </c:pt>
                <c:pt idx="6">
                  <c:v>12</c:v>
                </c:pt>
                <c:pt idx="7">
                  <c:v>10.3</c:v>
                </c:pt>
                <c:pt idx="8">
                  <c:v>13</c:v>
                </c:pt>
                <c:pt idx="9">
                  <c:v>12.9</c:v>
                </c:pt>
                <c:pt idx="10">
                  <c:v>11</c:v>
                </c:pt>
                <c:pt idx="11">
                  <c:v>13.6</c:v>
                </c:pt>
                <c:pt idx="12">
                  <c:v>12.1</c:v>
                </c:pt>
                <c:pt idx="13">
                  <c:v>11.5</c:v>
                </c:pt>
                <c:pt idx="14">
                  <c:v>10.1</c:v>
                </c:pt>
                <c:pt idx="15">
                  <c:v>12.9</c:v>
                </c:pt>
                <c:pt idx="16">
                  <c:v>11.4</c:v>
                </c:pt>
                <c:pt idx="17">
                  <c:v>11.7</c:v>
                </c:pt>
                <c:pt idx="18">
                  <c:v>12.8</c:v>
                </c:pt>
                <c:pt idx="19">
                  <c:v>10.9</c:v>
                </c:pt>
                <c:pt idx="20">
                  <c:v>10.7</c:v>
                </c:pt>
                <c:pt idx="21">
                  <c:v>13.1</c:v>
                </c:pt>
                <c:pt idx="22">
                  <c:v>10.4</c:v>
                </c:pt>
                <c:pt idx="23">
                  <c:v>11.8</c:v>
                </c:pt>
                <c:pt idx="24">
                  <c:v>10.6</c:v>
                </c:pt>
                <c:pt idx="25">
                  <c:v>13.2</c:v>
                </c:pt>
                <c:pt idx="26">
                  <c:v>11.8</c:v>
                </c:pt>
                <c:pt idx="27">
                  <c:v>10.6</c:v>
                </c:pt>
                <c:pt idx="28">
                  <c:v>10.4</c:v>
                </c:pt>
                <c:pt idx="29">
                  <c:v>12.9</c:v>
                </c:pt>
                <c:pt idx="30">
                  <c:v>12.3</c:v>
                </c:pt>
                <c:pt idx="31">
                  <c:v>11.3</c:v>
                </c:pt>
                <c:pt idx="32">
                  <c:v>10.1</c:v>
                </c:pt>
                <c:pt idx="33">
                  <c:v>12.4</c:v>
                </c:pt>
                <c:pt idx="34">
                  <c:v>10.1</c:v>
                </c:pt>
                <c:pt idx="35">
                  <c:v>12.9</c:v>
                </c:pt>
                <c:pt idx="36">
                  <c:v>12.5</c:v>
                </c:pt>
                <c:pt idx="37">
                  <c:v>13.6</c:v>
                </c:pt>
                <c:pt idx="38">
                  <c:v>10.8</c:v>
                </c:pt>
                <c:pt idx="39">
                  <c:v>13.2</c:v>
                </c:pt>
                <c:pt idx="40">
                  <c:v>11</c:v>
                </c:pt>
                <c:pt idx="41">
                  <c:v>13.9</c:v>
                </c:pt>
                <c:pt idx="42">
                  <c:v>10.2</c:v>
                </c:pt>
                <c:pt idx="43">
                  <c:v>11.7</c:v>
                </c:pt>
                <c:pt idx="44">
                  <c:v>14.7</c:v>
                </c:pt>
                <c:pt idx="45">
                  <c:v>14.1</c:v>
                </c:pt>
                <c:pt idx="46">
                  <c:v>15.9</c:v>
                </c:pt>
                <c:pt idx="47">
                  <c:v>15.3</c:v>
                </c:pt>
                <c:pt idx="48">
                  <c:v>16.6</c:v>
                </c:pt>
                <c:pt idx="49">
                  <c:v>18.5</c:v>
                </c:pt>
                <c:pt idx="50">
                  <c:v>20.5</c:v>
                </c:pt>
                <c:pt idx="51">
                  <c:v>18.9</c:v>
                </c:pt>
                <c:pt idx="52">
                  <c:v>20.6</c:v>
                </c:pt>
                <c:pt idx="53">
                  <c:v>21.7</c:v>
                </c:pt>
                <c:pt idx="54">
                  <c:v>21.4</c:v>
                </c:pt>
                <c:pt idx="55">
                  <c:v>23.8</c:v>
                </c:pt>
                <c:pt idx="56">
                  <c:v>24.2</c:v>
                </c:pt>
                <c:pt idx="57">
                  <c:v>25.9</c:v>
                </c:pt>
                <c:pt idx="58">
                  <c:v>26.8</c:v>
                </c:pt>
                <c:pt idx="59">
                  <c:v>28.8</c:v>
                </c:pt>
                <c:pt idx="60">
                  <c:v>28.8</c:v>
                </c:pt>
                <c:pt idx="61">
                  <c:v>30.8</c:v>
                </c:pt>
                <c:pt idx="62">
                  <c:v>31.1</c:v>
                </c:pt>
                <c:pt idx="63">
                  <c:v>30.7</c:v>
                </c:pt>
                <c:pt idx="64">
                  <c:v>32</c:v>
                </c:pt>
                <c:pt idx="65">
                  <c:v>32.3</c:v>
                </c:pt>
                <c:pt idx="66">
                  <c:v>34.7</c:v>
                </c:pt>
                <c:pt idx="67">
                  <c:v>36.3</c:v>
                </c:pt>
                <c:pt idx="68">
                  <c:v>36.7</c:v>
                </c:pt>
                <c:pt idx="69">
                  <c:v>35.8</c:v>
                </c:pt>
                <c:pt idx="70">
                  <c:v>39.2</c:v>
                </c:pt>
                <c:pt idx="71">
                  <c:v>37.3</c:v>
                </c:pt>
                <c:pt idx="72">
                  <c:v>37.3</c:v>
                </c:pt>
                <c:pt idx="73">
                  <c:v>35.7</c:v>
                </c:pt>
                <c:pt idx="74">
                  <c:v>35.5</c:v>
                </c:pt>
                <c:pt idx="75">
                  <c:v>34.4</c:v>
                </c:pt>
                <c:pt idx="76">
                  <c:v>31.9</c:v>
                </c:pt>
                <c:pt idx="77">
                  <c:v>30.7</c:v>
                </c:pt>
                <c:pt idx="78">
                  <c:v>28.6</c:v>
                </c:pt>
                <c:pt idx="79">
                  <c:v>27.4</c:v>
                </c:pt>
                <c:pt idx="80">
                  <c:v>27.1</c:v>
                </c:pt>
                <c:pt idx="81">
                  <c:v>25.8</c:v>
                </c:pt>
                <c:pt idx="82">
                  <c:v>25.3</c:v>
                </c:pt>
                <c:pt idx="83">
                  <c:v>22.8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(no intervention)</c:v>
                </c:pt>
              </c:strCache>
            </c:strRef>
          </c:tx>
          <c:spPr>
            <a:solidFill>
              <a:srgbClr val="E05A3A"/>
            </a:solidFill>
            <a:ln w="25400" cap="flat">
              <a:solidFill>
                <a:srgbClr val="E05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A3A"/>
              </a:solidFill>
              <a:ln w="9525" cap="flat">
                <a:solidFill>
                  <a:srgbClr val="E05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Sheet1!$A$2:$A$85</c:f>
              <c:multiLvlStrCache>
                <c:ptCount val="84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  <c:pt idx="20">
                    <c:v>D21</c:v>
                  </c:pt>
                  <c:pt idx="21">
                    <c:v>D22</c:v>
                  </c:pt>
                  <c:pt idx="22">
                    <c:v>D23</c:v>
                  </c:pt>
                  <c:pt idx="23">
                    <c:v>D24</c:v>
                  </c:pt>
                  <c:pt idx="24">
                    <c:v>D25</c:v>
                  </c:pt>
                  <c:pt idx="25">
                    <c:v>D26</c:v>
                  </c:pt>
                  <c:pt idx="26">
                    <c:v>D27</c:v>
                  </c:pt>
                  <c:pt idx="27">
                    <c:v>D28</c:v>
                  </c:pt>
                  <c:pt idx="28">
                    <c:v>D29</c:v>
                  </c:pt>
                  <c:pt idx="29">
                    <c:v>D30</c:v>
                  </c:pt>
                  <c:pt idx="30">
                    <c:v>D31</c:v>
                  </c:pt>
                  <c:pt idx="31">
                    <c:v>D32</c:v>
                  </c:pt>
                  <c:pt idx="32">
                    <c:v>D33</c:v>
                  </c:pt>
                  <c:pt idx="33">
                    <c:v>D34</c:v>
                  </c:pt>
                  <c:pt idx="34">
                    <c:v>D35</c:v>
                  </c:pt>
                  <c:pt idx="35">
                    <c:v>D36</c:v>
                  </c:pt>
                  <c:pt idx="36">
                    <c:v>D37</c:v>
                  </c:pt>
                  <c:pt idx="37">
                    <c:v>D38</c:v>
                  </c:pt>
                  <c:pt idx="38">
                    <c:v>D39</c:v>
                  </c:pt>
                  <c:pt idx="39">
                    <c:v>D40</c:v>
                  </c:pt>
                  <c:pt idx="40">
                    <c:v>D41</c:v>
                  </c:pt>
                  <c:pt idx="41">
                    <c:v>D42</c:v>
                  </c:pt>
                  <c:pt idx="42">
                    <c:v>D43</c:v>
                  </c:pt>
                  <c:pt idx="43">
                    <c:v>D44</c:v>
                  </c:pt>
                  <c:pt idx="44">
                    <c:v>D45</c:v>
                  </c:pt>
                  <c:pt idx="45">
                    <c:v>D46</c:v>
                  </c:pt>
                  <c:pt idx="46">
                    <c:v>D47</c:v>
                  </c:pt>
                  <c:pt idx="47">
                    <c:v>D48</c:v>
                  </c:pt>
                  <c:pt idx="48">
                    <c:v>D49</c:v>
                  </c:pt>
                  <c:pt idx="49">
                    <c:v>D50</c:v>
                  </c:pt>
                  <c:pt idx="50">
                    <c:v>D51</c:v>
                  </c:pt>
                  <c:pt idx="51">
                    <c:v>D52</c:v>
                  </c:pt>
                  <c:pt idx="52">
                    <c:v>D53</c:v>
                  </c:pt>
                  <c:pt idx="53">
                    <c:v>D54</c:v>
                  </c:pt>
                  <c:pt idx="54">
                    <c:v>D55</c:v>
                  </c:pt>
                  <c:pt idx="55">
                    <c:v>D56</c:v>
                  </c:pt>
                  <c:pt idx="56">
                    <c:v>D57</c:v>
                  </c:pt>
                  <c:pt idx="57">
                    <c:v>D58</c:v>
                  </c:pt>
                  <c:pt idx="58">
                    <c:v>D59</c:v>
                  </c:pt>
                  <c:pt idx="59">
                    <c:v>D60</c:v>
                  </c:pt>
                  <c:pt idx="60">
                    <c:v>D61</c:v>
                  </c:pt>
                  <c:pt idx="61">
                    <c:v>D62</c:v>
                  </c:pt>
                  <c:pt idx="62">
                    <c:v>D63</c:v>
                  </c:pt>
                  <c:pt idx="63">
                    <c:v>D64</c:v>
                  </c:pt>
                  <c:pt idx="64">
                    <c:v>D65</c:v>
                  </c:pt>
                  <c:pt idx="65">
                    <c:v>D66</c:v>
                  </c:pt>
                  <c:pt idx="66">
                    <c:v>D67</c:v>
                  </c:pt>
                  <c:pt idx="67">
                    <c:v>D68</c:v>
                  </c:pt>
                  <c:pt idx="68">
                    <c:v>D69</c:v>
                  </c:pt>
                  <c:pt idx="69">
                    <c:v>D70</c:v>
                  </c:pt>
                  <c:pt idx="70">
                    <c:v>D71</c:v>
                  </c:pt>
                  <c:pt idx="71">
                    <c:v>D72</c:v>
                  </c:pt>
                  <c:pt idx="72">
                    <c:v>D73</c:v>
                  </c:pt>
                  <c:pt idx="73">
                    <c:v>D74</c:v>
                  </c:pt>
                  <c:pt idx="74">
                    <c:v>D75</c:v>
                  </c:pt>
                  <c:pt idx="75">
                    <c:v>D76</c:v>
                  </c:pt>
                  <c:pt idx="76">
                    <c:v>D77</c:v>
                  </c:pt>
                  <c:pt idx="77">
                    <c:v>D78</c:v>
                  </c:pt>
                  <c:pt idx="78">
                    <c:v>D79</c:v>
                  </c:pt>
                  <c:pt idx="79">
                    <c:v>D80</c:v>
                  </c:pt>
                  <c:pt idx="80">
                    <c:v>D81</c:v>
                  </c:pt>
                  <c:pt idx="81">
                    <c:v>D82</c:v>
                  </c:pt>
                  <c:pt idx="82">
                    <c:v>D83</c:v>
                  </c:pt>
                  <c:pt idx="83">
                    <c:v>D84</c:v>
                  </c:pt>
                </c:lvl>
              </c:multiLvlStrCache>
            </c:multiLvlStrRef>
          </c:cat>
          <c:val>
            <c:numRef>
              <c:f>Sheet1!$C$2:$C$85</c:f>
              <c:numCache>
                <c:formatCode>General</c:formatCode>
                <c:ptCount val="8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>38.9</c:v>
                </c:pt>
                <c:pt idx="72">
                  <c:v>39.8</c:v>
                </c:pt>
                <c:pt idx="73">
                  <c:v>40.7</c:v>
                </c:pt>
                <c:pt idx="74">
                  <c:v>41.6</c:v>
                </c:pt>
                <c:pt idx="75">
                  <c:v>42.5</c:v>
                </c:pt>
                <c:pt idx="76">
                  <c:v>43.4</c:v>
                </c:pt>
                <c:pt idx="77">
                  <c:v>44.3</c:v>
                </c:pt>
                <c:pt idx="78">
                  <c:v>45.2</c:v>
                </c:pt>
                <c:pt idx="79">
                  <c:v>46.1</c:v>
                </c:pt>
                <c:pt idx="80">
                  <c:v>47</c:v>
                </c:pt>
                <c:pt idx="81">
                  <c:v>47.9</c:v>
                </c:pt>
                <c:pt idx="82">
                  <c:v>48.8</c:v>
                </c:pt>
                <c:pt idx="83">
                  <c:v>49.7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LifeOS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Predictive Behavioural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26060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3264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Vitality Pulse 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3246120"/>
            <a:ext cx="26060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3264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NutriSense AI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3246120"/>
            <a:ext cx="26060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3264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SafeRoute Insight AI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GradHack 2024  ·  Discovery Group  ·  Behavioural Intelligence Layer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sees behaviour.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predict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behaviour after the fact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what already happened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8529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completed 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3284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incidents, not patterns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8039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early warning signals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17320"/>
            <a:ext cx="64008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MISSING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8032" y="1901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behavioural decline early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disengagement before it peaks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8529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signals across all domains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33284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before negative outcomes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3803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interventions per person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"Discovery collects more behavioural data than almost any company in Africa. Today, most of that data tells you what already happened."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 →  Select  →  Intervene  → 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463040"/>
            <a:ext cx="1993392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63040"/>
            <a:ext cx="199339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PREDICT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behavioural decline 7–14 days before it peaks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0864" y="2999232"/>
            <a:ext cx="15544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496312" y="1463040"/>
            <a:ext cx="1993392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463040"/>
            <a:ext cx="199339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SELECT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intervention lever for this person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9704" y="2999232"/>
            <a:ext cx="15544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645152" y="1463040"/>
            <a:ext cx="1993392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1463040"/>
            <a:ext cx="1993392" cy="2011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INTERVENE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21284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contextual, personalised action at the right moment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38544" y="2999232"/>
            <a:ext cx="155448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93992" y="1463040"/>
            <a:ext cx="1993392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463040"/>
            <a:ext cx="1993392" cy="201168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LEARN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21284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feeds back — models improve with every interaction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4663440"/>
            <a:ext cx="8412480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is NOT the individual modules — it's the UNIFIED behavioural prediction layer that connects them.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Four-layer behavioural intelligence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61872"/>
            <a:ext cx="84124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63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— ADAPTIVE INTERVENTIONS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6824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point boost  ·  HealthyFood discount  ·  SafeRoute alert  ·  Drive score nudge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65960"/>
            <a:ext cx="8412480" cy="1828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671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— AI MODULE LAYER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386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Pulse AI (wellness)  ·  NutriSense AI (nutrition)  ·  SafeRoute Insight AI (mobility)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670048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670048"/>
            <a:ext cx="841248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8712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— BEHAVIOURAL INTELLIGENCE 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3090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feature store  ·  XGBoost trajectory model (MAE 2.29, R² 0.907)  ·  Contextual bandit selector  ·  SHAP explainability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547872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547872"/>
            <a:ext cx="841248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749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— DATA INGESTION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9684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signals  ·  HealthyFood scans  ·  Insure telematics  ·  Load-shedding schedule  ·  App engagement  ·  Route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THREE MODULES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Three intelligence domains.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" y="1389888"/>
            <a:ext cx="2724912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89888"/>
            <a:ext cx="2724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Vitality Pulse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burnout, wellness decline and Vitality disengagement 7–14 days early.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MONITORED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Sleep pattern shifts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Activity frequency drop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 engagement decline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Streak breaks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Vitality point boosts, rest-day encouragement, recovery nudges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724912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389888"/>
            <a:ext cx="272491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0817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171907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NutriSense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21396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unhealthy dietary drift and cooking disengagement before they become entrenched habits.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8163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MONITORED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10128" y="299923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HealthyFood scan decline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Meal prep score drop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Sugar index rise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Spend pattern shift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822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10128" y="400507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HealthyFood discounts at nearby retailers, meal prep guides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1389888"/>
            <a:ext cx="2724912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1389888"/>
            <a:ext cx="2724912" cy="256032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40817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63056" y="171907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SafeRoute Insight 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056" y="21396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fatigue-related driving risk and unsafe route conditions before incidents occur.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28163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MONITORED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63056" y="299923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Late-night trip increase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Fatigue score rise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Drive score decline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Load-shedding context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382219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63056" y="400507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route alerts, timing recommendations, DQ score improvement nudges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accuracy on real behavioural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1901952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89888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9616"/>
            <a:ext cx="1673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1673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MAE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 on 0–100 scale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1389888"/>
            <a:ext cx="1901952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389888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99616"/>
            <a:ext cx="1673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51760" y="2048256"/>
            <a:ext cx="1673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R²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286000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model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1389888"/>
            <a:ext cx="1901952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389888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99616"/>
            <a:ext cx="1673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54880" y="2048256"/>
            <a:ext cx="1673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advance 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3408" y="1389888"/>
            <a:ext cx="1901952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3408" y="1389888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499616"/>
            <a:ext cx="1673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7C6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0.857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0" y="2048256"/>
            <a:ext cx="1673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F1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286000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× recall balance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84048" y="2834640"/>
          <a:ext cx="83210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COUNTERFACTUAL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intervention — this is what happens.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84048" y="1389888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389888"/>
            <a:ext cx="2770632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38988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53912" y="1499616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0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153912" y="2048256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 probability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53912" y="22860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intervention (6 weeks)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2276856"/>
            <a:ext cx="2770632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27685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386584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−16pts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153912" y="2935224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gap per 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53912" y="317296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projected in recovery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3163824"/>
            <a:ext cx="2770632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316382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327355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153912" y="382219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risk reduction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53912" y="405993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intervention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4050792"/>
            <a:ext cx="2770632" cy="8046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4050792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416052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7C6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6153912" y="470916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peak risk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53912" y="494690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38 actual — 16pt difference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4048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Intervention fires day 71 — recovery begins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 ECOSYSTEM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new product. A new intelligence layer.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383280" y="1874520"/>
            <a:ext cx="2377440" cy="1371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2011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LifeOS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24028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+ rewards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24028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HealthyFood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data + discounts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224028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276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Insure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197510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telematics + DQ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224028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992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Bank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34670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behavioural cashback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685800"/>
            <a:ext cx="224028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75895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Engage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10642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+ notifications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LifeOS sits as an intelligence API layer on top of Discovery's existing products — not replacing them, making them predictive.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4573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🇿🇦  Load-shedding schedule integrated as a contextual signal — a South Africa-specific differentiator no global platform has.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product. We built it in from day one.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8988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9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POPIA Compliance by Design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grant explicit, granular consent for cross-product signal fusion. Data access is role-scoped, logged, and revocable at any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38988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38988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499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6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Explainability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01568" y="18470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intervention shows the user why it was triggered — "We noticed your sleep dropped 42min/night over 11 days." No black boxes.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53328" y="138988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38988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499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Opt-Down Architecture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36208" y="184708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reduce data sharing granularity and still receive degraded-but-functional predictions. Privacy is not binary.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08152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08152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912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Anti-Manipulation Safeguards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selector cannot recommend actions that benefit Discovery commercially at the expense of user health. Hard constraint.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308152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308152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1912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Audit Trail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prediction, intervention, and outcome is timestamped, logged, and reviewable — by the user and by Discovery compliance teams.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53328" y="3081528"/>
            <a:ext cx="2670048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3081528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1912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 Transparency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6208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decisions are explained using SHAP values — regulators and users can see exactly which signals drove each risk score.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already has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and the distribution.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LifeOS is the prediction and intervention layer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it all proactive instead of reactive.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" y="3246120"/>
            <a:ext cx="2670048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3246120"/>
            <a:ext cx="267004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months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partnership to integrate with live Vitality and HealthyFood data pipelines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3246120"/>
            <a:ext cx="2670048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3246120"/>
            <a:ext cx="267004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pilot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8416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cohort of Discovery employees — real behavioural data, real intervention outcomes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3246120"/>
            <a:ext cx="2670048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3246120"/>
            <a:ext cx="2670048" cy="2011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6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outcome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63056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reduction in Vitality disengagement and claims risk within 90 days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 LifeOS  ·  GradHack 2024  ·  Behavioural Intelligence Platform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Discovery LifeOS — Predictive Behavioural Intelligence</dc:title>
  <dc:subject>GradHack 2024</dc:subject>
  <dc:creator>Discovery LifeOS Team</dc:creator>
  <cp:lastModifiedBy>Discovery LifeOS Team</cp:lastModifiedBy>
  <cp:revision>1</cp:revision>
  <dcterms:created xsi:type="dcterms:W3CDTF">2026-06-05T20:56:27Z</dcterms:created>
  <dcterms:modified xsi:type="dcterms:W3CDTF">2026-06-05T20:56:27Z</dcterms:modified>
</cp:coreProperties>
</file>